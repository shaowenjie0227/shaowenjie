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90" r:id="rId2"/>
    <p:sldId id="295" r:id="rId3"/>
    <p:sldId id="277" r:id="rId4"/>
    <p:sldId id="325" r:id="rId5"/>
    <p:sldId id="326" r:id="rId6"/>
    <p:sldId id="327" r:id="rId7"/>
    <p:sldId id="283" r:id="rId8"/>
    <p:sldId id="347" r:id="rId9"/>
    <p:sldId id="348" r:id="rId10"/>
    <p:sldId id="349" r:id="rId11"/>
    <p:sldId id="351" r:id="rId12"/>
    <p:sldId id="352" r:id="rId13"/>
    <p:sldId id="353" r:id="rId14"/>
    <p:sldId id="354" r:id="rId15"/>
    <p:sldId id="355" r:id="rId16"/>
    <p:sldId id="356" r:id="rId17"/>
    <p:sldId id="268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8" r:id="rId29"/>
    <p:sldId id="367" r:id="rId30"/>
    <p:sldId id="369" r:id="rId31"/>
    <p:sldId id="31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80">
          <p15:clr>
            <a:srgbClr val="A4A3A4"/>
          </p15:clr>
        </p15:guide>
        <p15:guide id="2" pos="5167">
          <p15:clr>
            <a:srgbClr val="A4A3A4"/>
          </p15:clr>
        </p15:guide>
        <p15:guide id="3" orient="horz" pos="16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4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5050"/>
    <a:srgbClr val="404040"/>
    <a:srgbClr val="9BC2DF"/>
    <a:srgbClr val="A6CAEE"/>
    <a:srgbClr val="CCCC33"/>
    <a:srgbClr val="FFC885"/>
    <a:srgbClr val="FEE3AD"/>
    <a:srgbClr val="FFFFFF"/>
    <a:srgbClr val="92B5DB"/>
    <a:srgbClr val="A4A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1" autoAdjust="0"/>
    <p:restoredTop sz="94312" autoAdjust="0"/>
  </p:normalViewPr>
  <p:slideViewPr>
    <p:cSldViewPr snapToGrid="0" showGuides="1">
      <p:cViewPr varScale="1">
        <p:scale>
          <a:sx n="74" d="100"/>
          <a:sy n="74" d="100"/>
        </p:scale>
        <p:origin x="77" y="168"/>
      </p:cViewPr>
      <p:guideLst>
        <p:guide orient="horz" pos="4280"/>
        <p:guide pos="5167"/>
        <p:guide orient="horz" pos="16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>
        <p:scale>
          <a:sx n="66" d="100"/>
          <a:sy n="66" d="100"/>
        </p:scale>
        <p:origin x="2322" y="-318"/>
      </p:cViewPr>
      <p:guideLst>
        <p:guide orient="horz" pos="284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BE96E-66E5-4AE0-97D7-7FDAD5BCA6DB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71971-2C66-405E-A74D-7E371BACBA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88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71971-2C66-405E-A74D-7E371BACBA1C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65918-C45C-46E3-971A-E05B32712711}" type="datetimeFigureOut">
              <a:rPr lang="zh-CN" altLang="en-US" smtClean="0"/>
              <a:t>2021/4/8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F99F-76E7-41BC-BC3B-28E0C22733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032060" y="5022216"/>
            <a:ext cx="753746" cy="734645"/>
            <a:chOff x="1032060" y="5022216"/>
            <a:chExt cx="753746" cy="734645"/>
          </a:xfrm>
        </p:grpSpPr>
        <p:sp>
          <p:nvSpPr>
            <p:cNvPr id="15" name="等腰三角形 14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等腰三角形 16"/>
          <p:cNvSpPr/>
          <p:nvPr/>
        </p:nvSpPr>
        <p:spPr>
          <a:xfrm rot="16200000" flipH="1" flipV="1">
            <a:off x="10561436" y="2089522"/>
            <a:ext cx="466193" cy="401891"/>
          </a:xfrm>
          <a:prstGeom prst="triangle">
            <a:avLst/>
          </a:prstGeom>
          <a:solidFill>
            <a:srgbClr val="C75050"/>
          </a:solidFill>
          <a:ln w="12700">
            <a:solidFill>
              <a:srgbClr val="C7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5400000" flipV="1">
            <a:off x="10835395" y="2837059"/>
            <a:ext cx="312202" cy="269140"/>
          </a:xfrm>
          <a:prstGeom prst="triangle">
            <a:avLst/>
          </a:prstGeom>
          <a:solidFill>
            <a:srgbClr val="40404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20034423" flipH="1" flipV="1">
            <a:off x="10265617" y="3528425"/>
            <a:ext cx="466193" cy="401891"/>
          </a:xfrm>
          <a:prstGeom prst="triangle">
            <a:avLst/>
          </a:prstGeom>
          <a:noFill/>
          <a:ln w="12700">
            <a:solidFill>
              <a:srgbClr val="C7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3050067" flipH="1" flipV="1">
            <a:off x="1101977" y="3288413"/>
            <a:ext cx="466193" cy="401891"/>
          </a:xfrm>
          <a:prstGeom prst="triangle">
            <a:avLst/>
          </a:prstGeom>
          <a:solidFill>
            <a:srgbClr val="40404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399" y="1742500"/>
            <a:ext cx="2269519" cy="2269519"/>
          </a:xfrm>
          <a:prstGeom prst="rect">
            <a:avLst/>
          </a:prstGeom>
        </p:spPr>
      </p:pic>
      <p:sp>
        <p:nvSpPr>
          <p:cNvPr id="51" name="矩形 259"/>
          <p:cNvSpPr>
            <a:spLocks noChangeArrowheads="1"/>
          </p:cNvSpPr>
          <p:nvPr/>
        </p:nvSpPr>
        <p:spPr bwMode="auto">
          <a:xfrm>
            <a:off x="7570643" y="5417911"/>
            <a:ext cx="3226519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主讲人：王晓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  <a:p>
            <a:pPr algn="ctr"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主讲时间：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4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月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8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  <a:sym typeface="Arial" panose="02080604020202020204" pitchFamily="34" charset="0"/>
              </a:rPr>
              <a:t>日</a:t>
            </a:r>
            <a:endParaRPr lang="en-US" altLang="zh-CN" sz="11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80604020202020204" pitchFamily="34" charset="0"/>
              <a:cs typeface="Arial" panose="02080604020202020204" pitchFamily="34" charset="0"/>
              <a:sym typeface="Arial" panose="02080604020202020204" pitchFamily="34" charset="0"/>
            </a:endParaRPr>
          </a:p>
        </p:txBody>
      </p:sp>
      <p:sp>
        <p:nvSpPr>
          <p:cNvPr id="50" name="矩形 259"/>
          <p:cNvSpPr>
            <a:spLocks noChangeArrowheads="1"/>
          </p:cNvSpPr>
          <p:nvPr/>
        </p:nvSpPr>
        <p:spPr bwMode="auto">
          <a:xfrm>
            <a:off x="3175676" y="4399305"/>
            <a:ext cx="5840963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defRPr>
            </a:lvl9pPr>
          </a:lstStyle>
          <a:p>
            <a:pPr algn="ctr">
              <a:buNone/>
            </a:pPr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80604020202020204" pitchFamily="34" charset="0"/>
              </a:rPr>
              <a:t>Vue</a:t>
            </a:r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80604020202020204" pitchFamily="34" charset="0"/>
              </a:rPr>
              <a:t>常用知识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8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51" grpId="0" bldLvl="0" animBg="1"/>
      <p:bldP spid="5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895985"/>
            <a:ext cx="12192000" cy="499237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920492" y="1668013"/>
            <a:ext cx="486807" cy="645160"/>
            <a:chOff x="3207002" y="2256658"/>
            <a:chExt cx="486807" cy="645160"/>
          </a:xfrm>
        </p:grpSpPr>
        <p:sp>
          <p:nvSpPr>
            <p:cNvPr id="8" name="矩形 7"/>
            <p:cNvSpPr/>
            <p:nvPr/>
          </p:nvSpPr>
          <p:spPr>
            <a:xfrm>
              <a:off x="3225809" y="2349618"/>
              <a:ext cx="468000" cy="468000"/>
            </a:xfrm>
            <a:prstGeom prst="rect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002" y="2256658"/>
              <a:ext cx="47897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470564" y="1698792"/>
            <a:ext cx="425268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889481" y="3111584"/>
            <a:ext cx="657601" cy="645160"/>
            <a:chOff x="3175991" y="3700229"/>
            <a:chExt cx="657601" cy="645160"/>
          </a:xfrm>
        </p:grpSpPr>
        <p:sp>
          <p:nvSpPr>
            <p:cNvPr id="16" name="矩形 15"/>
            <p:cNvSpPr/>
            <p:nvPr/>
          </p:nvSpPr>
          <p:spPr>
            <a:xfrm>
              <a:off x="3225809" y="3782229"/>
              <a:ext cx="468000" cy="468000"/>
            </a:xfrm>
            <a:prstGeom prst="rect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175991" y="3700229"/>
              <a:ext cx="657601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2</a:t>
              </a: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458938" y="3147125"/>
            <a:ext cx="425268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常见模板语法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-1467462" y="3574840"/>
            <a:ext cx="753746" cy="734645"/>
            <a:chOff x="1032060" y="5022216"/>
            <a:chExt cx="753746" cy="734645"/>
          </a:xfrm>
        </p:grpSpPr>
        <p:sp>
          <p:nvSpPr>
            <p:cNvPr id="24" name="等腰三角形 2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等腰三角形 25"/>
          <p:cNvSpPr/>
          <p:nvPr/>
        </p:nvSpPr>
        <p:spPr>
          <a:xfrm rot="3050067" flipH="1" flipV="1">
            <a:off x="-1586862" y="3191648"/>
            <a:ext cx="466193" cy="401891"/>
          </a:xfrm>
          <a:prstGeom prst="triangle">
            <a:avLst/>
          </a:prstGeom>
          <a:solidFill>
            <a:srgbClr val="40404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01546" y="4654634"/>
            <a:ext cx="657601" cy="645160"/>
            <a:chOff x="3175991" y="3700229"/>
            <a:chExt cx="657601" cy="645160"/>
          </a:xfrm>
        </p:grpSpPr>
        <p:sp>
          <p:nvSpPr>
            <p:cNvPr id="3" name="矩形 2"/>
            <p:cNvSpPr/>
            <p:nvPr/>
          </p:nvSpPr>
          <p:spPr>
            <a:xfrm>
              <a:off x="3225809" y="3782229"/>
              <a:ext cx="468000" cy="468000"/>
            </a:xfrm>
            <a:prstGeom prst="rect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175991" y="3700229"/>
              <a:ext cx="657601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2471003" y="4690175"/>
            <a:ext cx="425268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6205576" y="2282274"/>
            <a:ext cx="657601" cy="645160"/>
            <a:chOff x="3175991" y="3700229"/>
            <a:chExt cx="657601" cy="645160"/>
          </a:xfrm>
        </p:grpSpPr>
        <p:sp>
          <p:nvSpPr>
            <p:cNvPr id="30" name="矩形 29"/>
            <p:cNvSpPr/>
            <p:nvPr/>
          </p:nvSpPr>
          <p:spPr>
            <a:xfrm>
              <a:off x="3225809" y="3782229"/>
              <a:ext cx="468000" cy="468000"/>
            </a:xfrm>
            <a:prstGeom prst="rect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175991" y="3700229"/>
              <a:ext cx="657601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4</a:t>
              </a: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6775033" y="2317815"/>
            <a:ext cx="425268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生命周期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6205576" y="3968834"/>
            <a:ext cx="657601" cy="645160"/>
            <a:chOff x="3175991" y="3700229"/>
            <a:chExt cx="657601" cy="645160"/>
          </a:xfrm>
        </p:grpSpPr>
        <p:sp>
          <p:nvSpPr>
            <p:cNvPr id="34" name="矩形 33"/>
            <p:cNvSpPr/>
            <p:nvPr/>
          </p:nvSpPr>
          <p:spPr>
            <a:xfrm>
              <a:off x="3225809" y="3782229"/>
              <a:ext cx="468000" cy="468000"/>
            </a:xfrm>
            <a:prstGeom prst="rect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175991" y="3700229"/>
              <a:ext cx="657601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5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6775033" y="4004375"/>
            <a:ext cx="425268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中的混入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8" grpId="0"/>
      <p:bldP spid="32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1109" y="254328"/>
            <a:ext cx="68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01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01669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20" name="组合 19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21" name="等腰三角形 20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1332865" y="1522730"/>
            <a:ext cx="7640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/>
              <a:t>Vue (读音 /vjuː/，类似于 View) 是一套用于构建用户界面的渐进式框架。与其它大型框架不同的是，Vue 被设计为可以自底向上逐层应用。Vue 的核心库只关注视图层，不仅易于上手，还便于与第三方库或既有项目整合。另一方面，当与现代化的工具链以及各种支持类库结合使用时，Vue 也完全能够为复杂的单页应用提供驱动。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332586" y="3243327"/>
            <a:ext cx="477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/>
              <a:t>MVVM模式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12950" y="5270500"/>
            <a:ext cx="5525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dirty="0"/>
              <a:t>该层向上与视图层进行双向数据绑定</a:t>
            </a: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dirty="0"/>
              <a:t>向下与 Model 层通过接口请求进行数据交互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401445" y="4102100"/>
            <a:ext cx="88658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MVVM模式使用绑定器、视图模型和任何业务层的数据检查功能来验证传入的数据。</a:t>
            </a:r>
          </a:p>
          <a:p>
            <a:r>
              <a:rPr lang="zh-CN" altLang="en-US" dirty="0"/>
              <a:t>结果是模型和框架驱动尽可能多的操作，消除或最小化直接操纵视图的应用程序逻辑（如代码隐藏）。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6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1109" y="254328"/>
            <a:ext cx="68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01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01669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20" name="组合 19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21" name="等腰三角形 20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202008091803375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45" y="1048385"/>
            <a:ext cx="6623685" cy="33610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1110" y="5006340"/>
            <a:ext cx="76815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M (model)：模型对象：指的是构成界面内容的相关数据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V(view): view: 视图对象：指的是给用户或者开发者展示数据的界面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VM(viewmodel): 视图模型对象：是view与model之间的桥梁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42020" y="2656205"/>
            <a:ext cx="31210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ViewModel是Vue.js的核心，它是一个Vue实例。Vue实例是作用于某一个HTML元素上的，这个元素可以是HTML的body元素，也可以是指定了id的某个元素。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1109" y="254328"/>
            <a:ext cx="68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01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01669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20" name="组合 19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21" name="等腰三角形 20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401445" y="1379220"/>
            <a:ext cx="31210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如何使用？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32865" y="2033905"/>
            <a:ext cx="8561070" cy="4339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、直接用 &lt;script&gt; 引入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学习开发可以使用最新版本：</a:t>
            </a:r>
          </a:p>
          <a:p>
            <a:r>
              <a:rPr lang="zh-CN" altLang="en-US" dirty="0"/>
              <a:t>&lt;script src="https://cdn.jsdelivr.net/npm/vue/dist/vue.js"&gt;&lt;/script&gt;</a:t>
            </a:r>
          </a:p>
          <a:p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生产环境推荐指明版本号，如：</a:t>
            </a:r>
          </a:p>
          <a:p>
            <a:r>
              <a:rPr lang="zh-CN" altLang="en-US" dirty="0"/>
              <a:t>&lt;script src="https://cdn.jsdelivr.net/npm/vue@2.6.12"&gt;&lt;/script&gt;</a:t>
            </a:r>
          </a:p>
          <a:p>
            <a:endParaRPr lang="zh-CN" altLang="en-US" dirty="0"/>
          </a:p>
          <a:p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NPM</a:t>
            </a:r>
            <a:r>
              <a:rPr lang="zh-CN" altLang="en-US" sz="2000" b="1" dirty="0"/>
              <a:t>安装</a:t>
            </a:r>
            <a:endParaRPr lang="zh-CN" altLang="en-US" dirty="0"/>
          </a:p>
          <a:p>
            <a:r>
              <a:rPr lang="zh-CN" altLang="en-US" dirty="0"/>
              <a:t># 最新稳定版</a:t>
            </a:r>
          </a:p>
          <a:p>
            <a:r>
              <a:rPr lang="zh-CN" altLang="en-US" dirty="0"/>
              <a:t>$ npm install vue</a:t>
            </a:r>
          </a:p>
          <a:p>
            <a:endParaRPr lang="zh-CN" altLang="en-US" dirty="0"/>
          </a:p>
          <a:p>
            <a:r>
              <a:rPr lang="en-US" altLang="zh-CN" sz="2000" b="1" dirty="0"/>
              <a:t>3</a:t>
            </a:r>
            <a:r>
              <a:rPr lang="zh-CN" altLang="en-US" sz="2000" b="1" dirty="0"/>
              <a:t>、安装使用</a:t>
            </a:r>
            <a:r>
              <a:rPr lang="en-US" altLang="zh-CN" sz="2000" b="1" dirty="0"/>
              <a:t>CLI</a:t>
            </a:r>
            <a:r>
              <a:rPr lang="zh-CN" altLang="en-US" sz="2000" b="1" dirty="0"/>
              <a:t>脚手架</a:t>
            </a:r>
            <a:endParaRPr lang="en-US" altLang="zh-CN" sz="2000" b="1" dirty="0"/>
          </a:p>
          <a:p>
            <a:r>
              <a:rPr lang="en-US" altLang="zh-CN" dirty="0"/>
              <a:t># </a:t>
            </a:r>
            <a:r>
              <a:rPr lang="zh-CN" altLang="en-US" dirty="0"/>
              <a:t>安装脚手架</a:t>
            </a:r>
            <a:endParaRPr lang="en-US" altLang="zh-CN" dirty="0"/>
          </a:p>
          <a:p>
            <a:r>
              <a:rPr lang="en-US" altLang="zh-CN" dirty="0" err="1"/>
              <a:t>npm</a:t>
            </a:r>
            <a:r>
              <a:rPr lang="en-US" altLang="zh-CN" dirty="0"/>
              <a:t> install -g @vue/cli       OR        yarn global add @vue/cli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常见基本语法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73455" y="1379220"/>
            <a:ext cx="54419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文本</a:t>
            </a:r>
            <a:endParaRPr lang="zh-CN" altLang="en-US"/>
          </a:p>
          <a:p>
            <a:r>
              <a:rPr lang="zh-CN" altLang="en-US"/>
              <a:t>数据绑定最常见的形式就是使用“Mustache”语法 (双大括号) 的文本插值：</a:t>
            </a:r>
          </a:p>
          <a:p>
            <a:endParaRPr lang="zh-CN" altLang="en-US"/>
          </a:p>
          <a:p>
            <a:r>
              <a:rPr lang="zh-CN" altLang="en-US"/>
              <a:t>&lt;span&gt;Message: {{ msg }}&lt;/span&gt;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3455" y="3068955"/>
            <a:ext cx="90944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原始 HTML</a:t>
            </a:r>
            <a:endParaRPr lang="zh-CN" altLang="en-US" dirty="0"/>
          </a:p>
          <a:p>
            <a:r>
              <a:rPr lang="zh-CN" altLang="en-US" dirty="0"/>
              <a:t>双大括号会将数据解释为普通文本，而非 HTML 代码。</a:t>
            </a:r>
          </a:p>
          <a:p>
            <a:r>
              <a:rPr lang="zh-CN" altLang="en-US" dirty="0"/>
              <a:t>为了输出真正的 HTML，你需要使用 v-html 指令：</a:t>
            </a:r>
          </a:p>
          <a:p>
            <a:endParaRPr lang="zh-CN" altLang="en-US" dirty="0"/>
          </a:p>
          <a:p>
            <a:r>
              <a:rPr lang="zh-CN" altLang="en-US" dirty="0"/>
              <a:t>&lt;p&gt;Using v-html directive: &lt;span </a:t>
            </a:r>
            <a:r>
              <a:rPr lang="zh-CN" altLang="en-US" dirty="0">
                <a:solidFill>
                  <a:srgbClr val="FF0000"/>
                </a:solidFill>
              </a:rPr>
              <a:t>v-html</a:t>
            </a:r>
            <a:r>
              <a:rPr lang="zh-CN" altLang="en-US" dirty="0"/>
              <a:t>="rawHtml"&gt;&lt;/span&gt;&lt;/p&gt;</a:t>
            </a:r>
          </a:p>
        </p:txBody>
      </p:sp>
      <p:pic>
        <p:nvPicPr>
          <p:cNvPr id="4" name="图片 3" descr="Screenshot_20210403_0835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40" y="920115"/>
            <a:ext cx="2743835" cy="741045"/>
          </a:xfrm>
          <a:prstGeom prst="rect">
            <a:avLst/>
          </a:prstGeom>
        </p:spPr>
      </p:pic>
      <p:pic>
        <p:nvPicPr>
          <p:cNvPr id="5" name="图片 4" descr="Screenshot_20210403_0836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140" y="1753235"/>
            <a:ext cx="2743835" cy="1023620"/>
          </a:xfrm>
          <a:prstGeom prst="rect">
            <a:avLst/>
          </a:prstGeom>
        </p:spPr>
      </p:pic>
      <p:pic>
        <p:nvPicPr>
          <p:cNvPr id="6" name="图片 5" descr="Screenshot_20210403_083730"/>
          <p:cNvPicPr>
            <a:picLocks noChangeAspect="1"/>
          </p:cNvPicPr>
          <p:nvPr/>
        </p:nvPicPr>
        <p:blipFill>
          <a:blip r:embed="rId6"/>
          <a:srcRect r="23938" b="402"/>
          <a:stretch>
            <a:fillRect/>
          </a:stretch>
        </p:blipFill>
        <p:spPr>
          <a:xfrm>
            <a:off x="10067925" y="1379220"/>
            <a:ext cx="1785620" cy="944880"/>
          </a:xfrm>
          <a:prstGeom prst="rect">
            <a:avLst/>
          </a:prstGeom>
        </p:spPr>
      </p:pic>
      <p:pic>
        <p:nvPicPr>
          <p:cNvPr id="7" name="图片 6" descr="Screenshot_20210403_08400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55" y="5521325"/>
            <a:ext cx="6715125" cy="952500"/>
          </a:xfrm>
          <a:prstGeom prst="rect">
            <a:avLst/>
          </a:prstGeom>
        </p:spPr>
      </p:pic>
      <p:pic>
        <p:nvPicPr>
          <p:cNvPr id="8" name="图片 7" descr="Screenshot_20210403_0840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455" y="4616450"/>
            <a:ext cx="5591175" cy="762000"/>
          </a:xfrm>
          <a:prstGeom prst="rect">
            <a:avLst/>
          </a:prstGeom>
        </p:spPr>
      </p:pic>
      <p:pic>
        <p:nvPicPr>
          <p:cNvPr id="10" name="图片 9" descr="Screenshot_20210403_084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0655" y="5007610"/>
            <a:ext cx="4072890" cy="1397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指令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79475" y="1360805"/>
            <a:ext cx="8577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前面的语法不能作用在 HTML attribute 上，遇到这种情况应该使用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v-bind</a:t>
            </a:r>
            <a:r>
              <a:rPr lang="zh-CN" altLang="en-US">
                <a:solidFill>
                  <a:srgbClr val="FF0000"/>
                </a:solidFill>
              </a:rPr>
              <a:t>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61110" y="2355850"/>
            <a:ext cx="71399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绑定</a:t>
            </a:r>
            <a:r>
              <a:rPr lang="en-US" altLang="zh-CN" dirty="0"/>
              <a:t>id</a:t>
            </a:r>
            <a:r>
              <a:rPr lang="zh-CN" altLang="en-US" dirty="0"/>
              <a:t>属性：&lt;div v-bind:id="dynamicId"&gt;&lt;/div&gt;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61110" y="2915920"/>
            <a:ext cx="84569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布尔类型属性：&lt;button v-bind:disabled="</a:t>
            </a:r>
            <a:r>
              <a:rPr lang="" altLang="zh-CN" dirty="0"/>
              <a:t>true</a:t>
            </a:r>
            <a:r>
              <a:rPr lang="zh-CN" altLang="en-US" dirty="0"/>
              <a:t>"&gt;Button&lt;/button&gt;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61110" y="3471545"/>
            <a:ext cx="71399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动态绑定</a:t>
            </a:r>
            <a:r>
              <a:rPr lang="en-US" altLang="zh-CN" dirty="0" err="1"/>
              <a:t>href</a:t>
            </a:r>
            <a:r>
              <a:rPr lang="zh-CN" altLang="en-US" dirty="0"/>
              <a:t>：&lt;a v-bind:href="url"&gt;...&lt;/a&gt;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61110" y="4058920"/>
            <a:ext cx="6951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监听</a:t>
            </a:r>
            <a:r>
              <a:rPr lang="en-US" altLang="zh-CN" dirty="0"/>
              <a:t>DOM</a:t>
            </a:r>
            <a:r>
              <a:rPr lang="zh-CN" altLang="en-US" dirty="0"/>
              <a:t>元素：&lt;a v-on:click="doSomething"&gt;...&lt;/a&gt;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66825" y="54273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v-bind:href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9475" y="4695190"/>
            <a:ext cx="3314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v-bind和</a:t>
            </a:r>
            <a:r>
              <a:rPr lang="en-US" altLang="zh-CN" b="1"/>
              <a:t>v-on</a:t>
            </a:r>
            <a:r>
              <a:rPr lang="zh-CN" altLang="en-US" b="1"/>
              <a:t>的缩写形式：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166110" y="54273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:href</a:t>
            </a:r>
            <a:r>
              <a:rPr lang="zh-CN" altLang="en-US" dirty="0"/>
              <a:t>="url"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110480" y="5427345"/>
            <a:ext cx="32905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v-on:click=“doSomething（）"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732520" y="5427345"/>
            <a:ext cx="32905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@</a:t>
            </a:r>
            <a:r>
              <a:rPr lang="zh-CN" altLang="en-US">
                <a:solidFill>
                  <a:srgbClr val="FF0000"/>
                </a:solidFill>
              </a:rPr>
              <a:t>click</a:t>
            </a:r>
            <a:r>
              <a:rPr lang="zh-CN" altLang="en-US"/>
              <a:t>="doSomething"</a:t>
            </a:r>
          </a:p>
        </p:txBody>
      </p:sp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---class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61110" y="1305560"/>
            <a:ext cx="92519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操作元素的 class 列表和内联样式是数据绑定的一个常见需求。因为它们都是 attribute，所以我们可以用 v-bind 处理它们：只需要通过表达式计算出字符串结果即可。不过，字符串拼接麻烦且易错。因此，在将 v-bind 用于 class 和 style 时，Vue.js 做了专门的增强。表达式结果的类型除了字符串之外，还可以是对象或数组。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3765" y="3283585"/>
            <a:ext cx="103651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传给 v-bind:class 一个对象，以动态地切换 class，也可与原有属性共存：</a:t>
            </a:r>
          </a:p>
          <a:p>
            <a:endParaRPr lang="zh-CN" altLang="en-US" dirty="0"/>
          </a:p>
          <a:p>
            <a:r>
              <a:rPr lang="zh-CN" altLang="en-US" dirty="0"/>
              <a:t>&lt;div</a:t>
            </a:r>
            <a:r>
              <a:rPr lang="en-US" altLang="zh-CN" dirty="0"/>
              <a:t> </a:t>
            </a:r>
            <a:r>
              <a:rPr lang="zh-CN" altLang="en-US" dirty="0"/>
              <a:t>class="static"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v-bind:class</a:t>
            </a:r>
            <a:r>
              <a:rPr lang="zh-CN" altLang="en-US" dirty="0"/>
              <a:t>="{ active: isActive, 'text-danger': hasError }"&gt;&lt;/div&gt;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44320" y="4916805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data: {</a:t>
            </a:r>
          </a:p>
          <a:p>
            <a:r>
              <a:rPr lang="zh-CN" altLang="en-US"/>
              <a:t>  isActive: true,</a:t>
            </a:r>
          </a:p>
          <a:p>
            <a:r>
              <a:rPr lang="zh-CN" altLang="en-US"/>
              <a:t>  hasError: false</a:t>
            </a:r>
          </a:p>
          <a:p>
            <a:r>
              <a:rPr lang="zh-CN" altLang="en-US"/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71035" y="5332095"/>
            <a:ext cx="60420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渲染结果为：&lt;div class="</a:t>
            </a:r>
            <a:r>
              <a:rPr lang="zh-CN" altLang="en-US" dirty="0">
                <a:solidFill>
                  <a:srgbClr val="FF0000"/>
                </a:solidFill>
              </a:rPr>
              <a:t>static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active</a:t>
            </a:r>
            <a:r>
              <a:rPr lang="zh-CN" altLang="en-US" dirty="0"/>
              <a:t>"&gt;&lt;/div&gt;</a:t>
            </a:r>
          </a:p>
        </p:txBody>
      </p:sp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条件渲染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048385" y="1457960"/>
            <a:ext cx="4594225" cy="1229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/>
              <a:t>v-if</a:t>
            </a:r>
            <a:endParaRPr lang="en-US" altLang="zh-CN" sz="2000" b="1"/>
          </a:p>
          <a:p>
            <a:endParaRPr lang="en-US" altLang="zh-CN"/>
          </a:p>
          <a:p>
            <a:r>
              <a:rPr lang="en-US" altLang="zh-CN"/>
              <a:t>用于条件性地渲染一块内容。这块内容只会在指令的表达式返回 true 值的时候被渲染。</a:t>
            </a: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6087110" y="1483360"/>
            <a:ext cx="15875" cy="276733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6925" y="3094355"/>
            <a:ext cx="4500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</a:t>
            </a:r>
            <a:r>
              <a:rPr lang="" altLang="zh-CN"/>
              <a:t>div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v-if="</a:t>
            </a:r>
            <a:r>
              <a:rPr lang="en-US" altLang="zh-CN">
                <a:solidFill>
                  <a:srgbClr val="FF0000"/>
                </a:solidFill>
              </a:rPr>
              <a:t>condition</a:t>
            </a:r>
            <a:r>
              <a:rPr lang="zh-CN" altLang="en-US">
                <a:solidFill>
                  <a:srgbClr val="FF0000"/>
                </a:solidFill>
              </a:rPr>
              <a:t>"</a:t>
            </a:r>
            <a:r>
              <a:rPr lang="zh-CN" altLang="en-US"/>
              <a:t>&gt;</a:t>
            </a:r>
            <a:r>
              <a:rPr lang="en-US" altLang="zh-CN">
                <a:sym typeface="+mn-ea"/>
              </a:rPr>
              <a:t>content</a:t>
            </a:r>
            <a:r>
              <a:rPr lang="zh-CN" altLang="en-US"/>
              <a:t>&lt;/</a:t>
            </a:r>
            <a:r>
              <a:rPr lang="" altLang="zh-CN"/>
              <a:t>div</a:t>
            </a:r>
            <a:r>
              <a:rPr lang="zh-CN" altLang="en-US"/>
              <a:t>&gt;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6925" y="3544570"/>
            <a:ext cx="51803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</a:t>
            </a:r>
            <a:r>
              <a:rPr lang="" altLang="zh-CN"/>
              <a:t>div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v-</a:t>
            </a:r>
            <a:r>
              <a:rPr lang="en-US" altLang="zh-CN">
                <a:solidFill>
                  <a:srgbClr val="FF0000"/>
                </a:solidFill>
              </a:rPr>
              <a:t>else</a:t>
            </a:r>
            <a:r>
              <a:rPr lang="" altLang="en-US">
                <a:solidFill>
                  <a:srgbClr val="FF0000"/>
                </a:solidFill>
              </a:rPr>
              <a:t>-if</a:t>
            </a:r>
            <a:r>
              <a:rPr lang="zh-CN" altLang="en-US"/>
              <a:t>="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condition</a:t>
            </a:r>
            <a:r>
              <a:rPr lang="zh-CN" altLang="en-US"/>
              <a:t>"&gt;</a:t>
            </a:r>
            <a:r>
              <a:rPr lang="" altLang="zh-CN"/>
              <a:t>content</a:t>
            </a:r>
            <a:r>
              <a:rPr lang="zh-CN" altLang="en-US"/>
              <a:t>&lt;/</a:t>
            </a:r>
            <a:r>
              <a:rPr lang="" altLang="zh-CN"/>
              <a:t>div</a:t>
            </a:r>
            <a:r>
              <a:rPr lang="zh-CN" altLang="en-US"/>
              <a:t>&gt;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6925" y="3912870"/>
            <a:ext cx="51803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</a:t>
            </a:r>
            <a:r>
              <a:rPr lang="" altLang="zh-CN"/>
              <a:t>div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v-</a:t>
            </a:r>
            <a:r>
              <a:rPr lang="en-US" altLang="zh-CN">
                <a:solidFill>
                  <a:srgbClr val="FF0000"/>
                </a:solidFill>
              </a:rPr>
              <a:t>else</a:t>
            </a:r>
            <a:r>
              <a:rPr lang="zh-CN" altLang="en-US"/>
              <a:t>="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condition</a:t>
            </a:r>
            <a:r>
              <a:rPr lang="zh-CN" altLang="en-US"/>
              <a:t>"&gt;</a:t>
            </a:r>
            <a:r>
              <a:rPr lang="en-US" altLang="zh-CN"/>
              <a:t>content</a:t>
            </a:r>
            <a:r>
              <a:rPr lang="zh-CN" altLang="en-US"/>
              <a:t>&lt;/</a:t>
            </a:r>
            <a:r>
              <a:rPr lang="" altLang="zh-CN"/>
              <a:t>div</a:t>
            </a:r>
            <a:r>
              <a:rPr lang="zh-CN" altLang="en-US"/>
              <a:t>&gt;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78295" y="1483360"/>
            <a:ext cx="5020310" cy="1229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/>
              <a:t>v-</a:t>
            </a:r>
            <a:r>
              <a:rPr lang="" altLang="zh-CN" sz="2000" b="1" dirty="0"/>
              <a:t>show</a:t>
            </a:r>
            <a:endParaRPr lang="en-US" altLang="zh-CN" sz="2000" b="1" dirty="0"/>
          </a:p>
          <a:p>
            <a:endParaRPr lang="en-US" altLang="zh-CN" dirty="0"/>
          </a:p>
          <a:p>
            <a:r>
              <a:rPr lang="en-US" altLang="zh-CN" dirty="0" err="1"/>
              <a:t>元素始终会被渲染并保留在</a:t>
            </a:r>
            <a:r>
              <a:rPr lang="en-US" altLang="zh-CN" dirty="0"/>
              <a:t> DOM </a:t>
            </a:r>
            <a:r>
              <a:rPr lang="en-US" altLang="zh-CN" dirty="0" err="1"/>
              <a:t>中。v-show</a:t>
            </a:r>
            <a:r>
              <a:rPr lang="en-US" altLang="zh-CN" dirty="0"/>
              <a:t> </a:t>
            </a:r>
            <a:r>
              <a:rPr lang="en-US" altLang="zh-CN" dirty="0" err="1"/>
              <a:t>只是简单地切换元素的</a:t>
            </a:r>
            <a:r>
              <a:rPr lang="en-US" altLang="zh-CN" dirty="0"/>
              <a:t> CSS property display。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572885" y="3094355"/>
            <a:ext cx="48012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</a:t>
            </a:r>
            <a:r>
              <a:rPr lang="" altLang="zh-CN"/>
              <a:t>div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v-show</a:t>
            </a:r>
            <a:r>
              <a:rPr lang="zh-CN" altLang="en-US"/>
              <a:t>="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condition</a:t>
            </a:r>
            <a:r>
              <a:rPr lang="zh-CN" altLang="en-US"/>
              <a:t>"&gt;Hello!&lt;/</a:t>
            </a:r>
            <a:r>
              <a:rPr lang="" altLang="zh-CN"/>
              <a:t>div</a:t>
            </a:r>
            <a:r>
              <a:rPr lang="zh-CN" altLang="en-US"/>
              <a:t>&gt;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356485" y="4997450"/>
            <a:ext cx="74771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" altLang="zh-CN"/>
              <a:t>v-if</a:t>
            </a:r>
            <a:r>
              <a:rPr lang="zh-CN" altLang=""/>
              <a:t>和</a:t>
            </a:r>
            <a:r>
              <a:rPr lang="en-US" altLang="zh-CN"/>
              <a:t>v-show</a:t>
            </a:r>
            <a:r>
              <a:rPr lang="zh-CN" altLang="en-US"/>
              <a:t>在使用的时候，我们所看到的效果是没有什么差别的，但实际上，它们的实现方式不同，相应的使用场景也就有些区别。</a:t>
            </a:r>
          </a:p>
        </p:txBody>
      </p:sp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条件渲染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Screenshot_20210403_1118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10" y="953135"/>
            <a:ext cx="10058400" cy="5581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列表渲染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61110" y="1390650"/>
            <a:ext cx="92011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我们可以用 v-for 指令基于一个数组来渲染一个列表。v-for 指令需要使用 item in items 形式的特殊语法，其中 items 是源数据数组，而 item 则是被迭代的数组元素的别名。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61110" y="2415540"/>
            <a:ext cx="51587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你也可以用 v-for 来遍历一个对象的 property。</a:t>
            </a:r>
          </a:p>
        </p:txBody>
      </p:sp>
      <p:pic>
        <p:nvPicPr>
          <p:cNvPr id="15" name="图片 14" descr="Screenshot_20210403_113037"/>
          <p:cNvPicPr>
            <a:picLocks noChangeAspect="1"/>
          </p:cNvPicPr>
          <p:nvPr/>
        </p:nvPicPr>
        <p:blipFill>
          <a:blip r:embed="rId4"/>
          <a:srcRect t="3154" r="-181" b="8982"/>
          <a:stretch>
            <a:fillRect/>
          </a:stretch>
        </p:blipFill>
        <p:spPr>
          <a:xfrm>
            <a:off x="1035685" y="2834005"/>
            <a:ext cx="5210810" cy="1593215"/>
          </a:xfrm>
          <a:prstGeom prst="rect">
            <a:avLst/>
          </a:prstGeom>
        </p:spPr>
      </p:pic>
      <p:pic>
        <p:nvPicPr>
          <p:cNvPr id="16" name="图片 15" descr="Screenshot_20210403_1132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990" y="2036445"/>
            <a:ext cx="4924425" cy="29000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61110" y="4427220"/>
            <a:ext cx="23056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你也可以提供第二个的参数为 property 名称 (也就是键名)：</a:t>
            </a:r>
          </a:p>
        </p:txBody>
      </p:sp>
      <p:pic>
        <p:nvPicPr>
          <p:cNvPr id="18" name="图片 17" descr="Screenshot_20210403_1134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030" y="4427220"/>
            <a:ext cx="4600575" cy="2209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列表渲染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50875" y="1421765"/>
            <a:ext cx="5069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v-for 与 v-if 一同使用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zh-CN" altLang="en-US" b="1">
                <a:solidFill>
                  <a:srgbClr val="FF0000"/>
                </a:solidFill>
              </a:rPr>
              <a:t>不推荐一同使用</a:t>
            </a:r>
            <a:r>
              <a:rPr lang="zh-CN" altLang="en-US" b="1"/>
              <a:t>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4665" y="2027555"/>
            <a:ext cx="66452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当它们处于同一节点，v-for 的优先级比 v-if 更高，这意味着 v-if 将分别重复运行于每个 v-for 循环中。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6265" y="3404235"/>
            <a:ext cx="3766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当你只想为部分项渲染节点时，这种优先级的机制会十分有用，如下：</a:t>
            </a:r>
            <a:endParaRPr lang="zh-CN" altLang="en-US"/>
          </a:p>
        </p:txBody>
      </p:sp>
      <p:pic>
        <p:nvPicPr>
          <p:cNvPr id="6" name="图片 5" descr="Screenshot_20210403_1140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" y="4242435"/>
            <a:ext cx="4600575" cy="1009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5955" y="5690235"/>
            <a:ext cx="4130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上面的代码将只渲染未完成的 todo。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538595" y="3197860"/>
            <a:ext cx="42735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而如果你的目的是有条件地跳过循环的执行，那么可以将 v-if 置于外层元素 (或 &lt;template&gt;) 上。如：</a:t>
            </a:r>
          </a:p>
        </p:txBody>
      </p:sp>
      <p:pic>
        <p:nvPicPr>
          <p:cNvPr id="10" name="图片 9" descr="Screenshot_20210403_114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420" y="4242435"/>
            <a:ext cx="4505325" cy="160972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5981065" y="3404235"/>
            <a:ext cx="15875" cy="276733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事件处理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871345" y="1818640"/>
            <a:ext cx="7617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可以用 </a:t>
            </a:r>
            <a:r>
              <a:rPr lang="zh-CN" altLang="en-US" dirty="0">
                <a:solidFill>
                  <a:srgbClr val="FF0000"/>
                </a:solidFill>
              </a:rPr>
              <a:t>v-on</a:t>
            </a:r>
            <a:r>
              <a:rPr lang="zh-CN" altLang="en-US" dirty="0"/>
              <a:t> 指令监听 DOM 事件，并在触发时运行一些 JavaScript 代码。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27885" y="2419985"/>
            <a:ext cx="6695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&lt;button </a:t>
            </a:r>
            <a:r>
              <a:rPr lang="en-US" altLang="zh-CN">
                <a:solidFill>
                  <a:srgbClr val="FF0000"/>
                </a:solidFill>
              </a:rPr>
              <a:t>@</a:t>
            </a:r>
            <a:r>
              <a:rPr lang="zh-CN" altLang="en-US">
                <a:solidFill>
                  <a:srgbClr val="FF0000"/>
                </a:solidFill>
              </a:rPr>
              <a:t>click</a:t>
            </a:r>
            <a:r>
              <a:rPr lang="zh-CN" altLang="en-US"/>
              <a:t>="</a:t>
            </a:r>
            <a:r>
              <a:rPr lang="en-US" altLang="zh-CN"/>
              <a:t>event</a:t>
            </a:r>
            <a:r>
              <a:rPr lang="" altLang="en-US"/>
              <a:t>()</a:t>
            </a:r>
            <a:r>
              <a:rPr lang="zh-CN" altLang="en-US"/>
              <a:t>"&gt;点击事件&lt;/button&gt;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039620" y="278828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事件处理方法：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583815" y="3496310"/>
            <a:ext cx="75425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dirty="0"/>
              <a:t>简单的事件，可以直接写在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@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click</a:t>
            </a:r>
            <a:r>
              <a:rPr lang="zh-CN" altLang="en-US" dirty="0">
                <a:sym typeface="+mn-ea"/>
              </a:rPr>
              <a:t>="count += 1"中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dirty="0"/>
              <a:t>处理逻辑复杂的事件，接收一个需要调用的方法名称（可传参数）。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18515" y="44653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按键修饰符：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18515" y="13017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点击事件：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871345" y="4833620"/>
            <a:ext cx="79197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在监听键盘事件时，我们经常需要检查详细的按键。Vue 允许为 v-on 在监听键盘事件时添加按键修饰符：</a:t>
            </a:r>
          </a:p>
        </p:txBody>
      </p:sp>
      <p:pic>
        <p:nvPicPr>
          <p:cNvPr id="20" name="图片 19" descr="Screenshot_20210403_1152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065" y="5478780"/>
            <a:ext cx="7336790" cy="1183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事件处理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18515" y="13017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" altLang="zh-CN" b="1"/>
              <a:t>Vue</a:t>
            </a:r>
            <a:r>
              <a:rPr lang="zh-CN" altLang="" b="1"/>
              <a:t>支持的按键码：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942975" y="2084070"/>
            <a:ext cx="527748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为了在必要的情况下支持旧浏览器，Vue 提供了绝大多数常用的按键码的别名：</a:t>
            </a:r>
          </a:p>
          <a:p>
            <a:endParaRPr lang="zh-CN" altLang="en-US" dirty="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.enter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.tab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.delete (捕获“删除”和“退格”键)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.esc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.space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.up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.down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.left</a:t>
            </a: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 dirty="0"/>
              <a:t>.right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26250" y="2653030"/>
            <a:ext cx="39909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你还可以通过全局 config.keyCodes 对象自定义按键修饰符别名：</a:t>
            </a:r>
          </a:p>
        </p:txBody>
      </p:sp>
      <p:pic>
        <p:nvPicPr>
          <p:cNvPr id="5" name="图片 4" descr="Screenshot_20210403_1155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73170"/>
            <a:ext cx="5734050" cy="13188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数据绑定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42975" y="1680845"/>
            <a:ext cx="50882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 err="1"/>
              <a:t>vue</a:t>
            </a:r>
            <a:r>
              <a:rPr lang="zh-CN" altLang="en-US" dirty="0"/>
              <a:t>的数据绑定是双向的，</a:t>
            </a:r>
          </a:p>
          <a:p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v-model</a:t>
            </a:r>
            <a:r>
              <a:rPr lang="zh-CN" altLang="en-US" dirty="0">
                <a:solidFill>
                  <a:schemeClr val="tx1"/>
                </a:solidFill>
              </a:rPr>
              <a:t>绑定的</a:t>
            </a:r>
            <a:r>
              <a:rPr lang="" altLang="zh-CN" dirty="0">
                <a:solidFill>
                  <a:srgbClr val="FF0000"/>
                </a:solidFill>
              </a:rPr>
              <a:t>&lt;input&gt;</a:t>
            </a:r>
            <a:r>
              <a:rPr lang="zh-CN" altLang="" dirty="0">
                <a:solidFill>
                  <a:schemeClr val="tx1"/>
                </a:solidFill>
              </a:rPr>
              <a:t>、</a:t>
            </a:r>
            <a:r>
              <a:rPr lang="" altLang="zh-CN" dirty="0">
                <a:solidFill>
                  <a:srgbClr val="FF0000"/>
                </a:solidFill>
              </a:rPr>
              <a:t>&lt;textarea&gt;</a:t>
            </a:r>
            <a:r>
              <a:rPr lang="" altLang="zh-CN" dirty="0">
                <a:solidFill>
                  <a:schemeClr val="tx1"/>
                </a:solidFill>
              </a:rPr>
              <a:t>及</a:t>
            </a:r>
            <a:r>
              <a:rPr lang="" altLang="zh-CN" dirty="0">
                <a:solidFill>
                  <a:srgbClr val="FF0000"/>
                </a:solidFill>
              </a:rPr>
              <a:t> &lt;select&gt;</a:t>
            </a:r>
            <a:r>
              <a:rPr lang="" altLang="zh-CN" dirty="0">
                <a:solidFill>
                  <a:schemeClr val="tx1"/>
                </a:solidFill>
              </a:rPr>
              <a:t>元素</a:t>
            </a:r>
            <a:r>
              <a:rPr lang="zh-CN" altLang="" dirty="0">
                <a:solidFill>
                  <a:schemeClr val="tx1"/>
                </a:solidFill>
              </a:rPr>
              <a:t>，</a:t>
            </a:r>
            <a:r>
              <a:rPr lang="" altLang="zh-CN" dirty="0">
                <a:solidFill>
                  <a:schemeClr val="tx1"/>
                </a:solidFill>
              </a:rPr>
              <a:t>会根据控件类型自动选取正确的方法来更新元素。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38556" y="3179860"/>
            <a:ext cx="3265805" cy="230695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</a:p>
          <a:p>
            <a:r>
              <a:rPr lang="zh-CN" altLang="en-US" dirty="0"/>
              <a:t>v-model 会忽略所有表单元素的 value、checked、selected attribute 的初始值而总是将 Vue 实例的数据作为数据来源。你应该通过 JavaScript 在组件的 data 选项中声明初始值。</a:t>
            </a:r>
          </a:p>
        </p:txBody>
      </p:sp>
      <p:pic>
        <p:nvPicPr>
          <p:cNvPr id="7" name="图片 6" descr="Screenshot_20210403_1200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10" y="3310255"/>
            <a:ext cx="6191250" cy="28670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常见的基本用法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数据绑定</a:t>
            </a:r>
          </a:p>
        </p:txBody>
      </p:sp>
      <p:grpSp>
        <p:nvGrpSpPr>
          <p:cNvPr id="26" name="组合 25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33" name="等腰三角形 32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Screenshot_20210403_120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75" y="900430"/>
            <a:ext cx="7365365" cy="55479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61110" y="1661795"/>
            <a:ext cx="6273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在注册一个组件的时候，我们始终需要给它一个名字。比如在全局注册的时候我们已经看到了：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727835" y="2510155"/>
            <a:ext cx="6901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Vue.component('my-component-name', { /* ... */ })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071370" y="3200400"/>
            <a:ext cx="5653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该组件名就是 Vue.component 的第一个参数。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071370" y="4950460"/>
            <a:ext cx="59975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使用 kebab-case：</a:t>
            </a:r>
          </a:p>
          <a:p>
            <a:r>
              <a:rPr lang="zh-CN" altLang="en-US" dirty="0"/>
              <a:t>Vue.component('my-component-name', { /* ... */ })</a:t>
            </a:r>
          </a:p>
          <a:p>
            <a:endParaRPr lang="zh-CN" altLang="en-US" dirty="0"/>
          </a:p>
          <a:p>
            <a:r>
              <a:rPr lang="zh-CN" altLang="en-US" dirty="0"/>
              <a:t>使用 PascalCase：Vue.component('MyComponentName', { /* ... */ })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261110" y="3901440"/>
            <a:ext cx="3682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组件名大小写</a:t>
            </a:r>
            <a:endParaRPr lang="zh-CN" altLang="en-US"/>
          </a:p>
          <a:p>
            <a:r>
              <a:rPr lang="zh-CN" altLang="en-US">
                <a:sym typeface="+mn-ea"/>
              </a:rPr>
              <a:t>定义组件名的方式有两种：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注册组件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3300" y="1634490"/>
            <a:ext cx="53879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全局注册：</a:t>
            </a:r>
            <a:r>
              <a:rPr lang="zh-CN" altLang="en-US">
                <a:sym typeface="+mn-ea"/>
              </a:rPr>
              <a:t>可在任何</a:t>
            </a:r>
            <a:r>
              <a:rPr lang="en-US" altLang="zh-CN">
                <a:sym typeface="+mn-ea"/>
              </a:rPr>
              <a:t>vue</a:t>
            </a:r>
            <a:r>
              <a:rPr lang="zh-CN" altLang="en-US">
                <a:sym typeface="+mn-ea"/>
              </a:rPr>
              <a:t>根实例的模板中使用</a:t>
            </a:r>
            <a:endParaRPr lang="zh-CN" altLang="en-US"/>
          </a:p>
          <a:p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30860" y="2292350"/>
            <a:ext cx="49409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Vue.component('my-component-name', {</a:t>
            </a:r>
          </a:p>
          <a:p>
            <a:r>
              <a:rPr lang="zh-CN" altLang="en-US"/>
              <a:t>  // ... 选项 ...</a:t>
            </a:r>
          </a:p>
          <a:p>
            <a:r>
              <a:rPr lang="zh-CN" altLang="en-US"/>
              <a:t>})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2900" y="4096385"/>
            <a:ext cx="3335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在其他模板中引用的方法为：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0065" y="4701540"/>
            <a:ext cx="62191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&lt;div id="app"&gt;</a:t>
            </a:r>
          </a:p>
          <a:p>
            <a:r>
              <a:rPr lang="zh-CN" altLang="en-US" dirty="0"/>
              <a:t>  &lt;</a:t>
            </a:r>
            <a:r>
              <a:rPr lang="zh-CN" altLang="en-US" dirty="0">
                <a:sym typeface="+mn-ea"/>
              </a:rPr>
              <a:t>my-component-name</a:t>
            </a:r>
            <a:r>
              <a:rPr lang="zh-CN" altLang="en-US" dirty="0"/>
              <a:t>&gt;&lt;/</a:t>
            </a:r>
            <a:r>
              <a:rPr lang="zh-CN" altLang="en-US" dirty="0">
                <a:sym typeface="+mn-ea"/>
              </a:rPr>
              <a:t>my-component-name</a:t>
            </a:r>
            <a:r>
              <a:rPr lang="zh-CN" altLang="en-US" dirty="0"/>
              <a:t>&gt;</a:t>
            </a:r>
          </a:p>
          <a:p>
            <a:r>
              <a:rPr lang="zh-CN" altLang="en-US" dirty="0"/>
              <a:t>&lt;/div&gt;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202170" y="2897505"/>
            <a:ext cx="3742690" cy="175323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全局注册往往是不够理想的。全局注册所有的组件意味着即便你已经不再使用一个组件了，它仍然会被包含在你最终的构建结果中。这造成了用户下载的 JavaScript 的无谓的增加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---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注册组件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3300" y="1634490"/>
            <a:ext cx="5300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局部注册：</a:t>
            </a:r>
            <a:r>
              <a:rPr lang="zh-CN" altLang="en-US"/>
              <a:t>在其子组件中不可用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0860" y="2292350"/>
            <a:ext cx="49409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//</a:t>
            </a:r>
            <a:r>
              <a:rPr dirty="0" err="1"/>
              <a:t>通过一个普通的</a:t>
            </a:r>
            <a:r>
              <a:rPr dirty="0"/>
              <a:t> JavaScript </a:t>
            </a:r>
            <a:r>
              <a:rPr dirty="0" err="1"/>
              <a:t>对象来定义组件</a:t>
            </a:r>
            <a:endParaRPr dirty="0"/>
          </a:p>
          <a:p>
            <a:r>
              <a:rPr lang="zh-CN" altLang="en-US" dirty="0"/>
              <a:t>var ComponentA = { /* ... */ 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38595" y="1266190"/>
            <a:ext cx="3335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在其他模板中引用的方法为：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89090" y="4533265"/>
            <a:ext cx="3742690" cy="92202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上述的引用方式，一定要在</a:t>
            </a:r>
            <a:r>
              <a:rPr lang="zh-CN" altLang="en-US" dirty="0">
                <a:solidFill>
                  <a:srgbClr val="FF0000"/>
                </a:solidFill>
              </a:rPr>
              <a:t>components: {</a:t>
            </a:r>
            <a:r>
              <a:rPr lang="" altLang="zh-CN" dirty="0">
                <a:solidFill>
                  <a:srgbClr val="FF0000"/>
                </a:solidFill>
              </a:rPr>
              <a:t>}</a:t>
            </a:r>
            <a:r>
              <a:rPr lang="zh-CN" altLang="" dirty="0">
                <a:solidFill>
                  <a:srgbClr val="FF0000"/>
                </a:solidFill>
              </a:rPr>
              <a:t>中注册</a:t>
            </a:r>
            <a:r>
              <a:rPr lang="zh-CN" altLang="" dirty="0"/>
              <a:t>，否则不能正常使用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50875" y="3516630"/>
            <a:ext cx="4380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然后在 components 选项中定义你想要使用的组件：</a:t>
            </a:r>
          </a:p>
        </p:txBody>
      </p:sp>
      <p:pic>
        <p:nvPicPr>
          <p:cNvPr id="8" name="图片 7" descr="Screenshot_20210403_122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95" y="4285615"/>
            <a:ext cx="3486150" cy="1943100"/>
          </a:xfrm>
          <a:prstGeom prst="rect">
            <a:avLst/>
          </a:prstGeom>
        </p:spPr>
      </p:pic>
      <p:pic>
        <p:nvPicPr>
          <p:cNvPr id="9" name="图片 8" descr="Screenshot_20210403_1220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95" y="1967230"/>
            <a:ext cx="3676650" cy="2028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---Prop</a:t>
            </a: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332865" y="1776095"/>
            <a:ext cx="98501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Prop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用于父组件需要向子组件传递消息，子组件就可以定义prop属性，来接受父组件传递消息。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457450" y="5431155"/>
            <a:ext cx="57785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" altLang="zh-CN">
                <a:sym typeface="+mn-ea"/>
              </a:rPr>
              <a:t>Prop</a:t>
            </a:r>
            <a:r>
              <a:rPr lang="zh-CN" altLang="">
                <a:sym typeface="+mn-ea"/>
              </a:rPr>
              <a:t>的参数类型有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>
                <a:sym typeface="+mn-ea"/>
              </a:rPr>
              <a:t>字符串数组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对象形式列出 prop，这些 property 的名称和值分别是 prop 各自的名称和类型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840230" y="2442210"/>
            <a:ext cx="78746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HTML 中的 attribute 名是大小写不敏感的，所以浏览器会把所有大写字符解释为小写字符。这意味着当你使用 DOM 中的模板时，camelCase (驼峰命名法) 的 prop 名需要使用其等价的 kebab-case (短横线分隔命名) 命名：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48080" y="3768090"/>
            <a:ext cx="52800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Vue.component('blog-post', {</a:t>
            </a:r>
          </a:p>
          <a:p>
            <a:r>
              <a:rPr lang="zh-CN" altLang="en-US" dirty="0"/>
              <a:t>  // 在 JavaScript 中是 camelCase 的</a:t>
            </a:r>
          </a:p>
          <a:p>
            <a:r>
              <a:rPr lang="zh-CN" altLang="en-US" dirty="0"/>
              <a:t>  props: ['postTitle'],</a:t>
            </a:r>
          </a:p>
          <a:p>
            <a:r>
              <a:rPr lang="zh-CN" altLang="en-US" dirty="0"/>
              <a:t>  template: '&lt;h3&gt;{{ postTitle }}&lt;/h3&gt;'</a:t>
            </a:r>
          </a:p>
          <a:p>
            <a:r>
              <a:rPr lang="zh-CN" altLang="en-US" dirty="0"/>
              <a:t>})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167936" y="4068446"/>
            <a:ext cx="56527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&lt;!-- 在 HTML 中是 kebab-case 的 --&gt;</a:t>
            </a:r>
          </a:p>
          <a:p>
            <a:r>
              <a:rPr lang="zh-CN" altLang="en-US" dirty="0"/>
              <a:t>&lt;blog-post post-title="hello!"&gt;&lt;/blog-post&gt;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---Prop</a:t>
            </a: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332865" y="1776095"/>
            <a:ext cx="98501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Prop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用于父组件需要向子组件传递消息，子组件就可以定义prop属性，来接受父组件传递消息。</a:t>
            </a:r>
          </a:p>
        </p:txBody>
      </p:sp>
      <p:pic>
        <p:nvPicPr>
          <p:cNvPr id="12" name="图片 11" descr="Screenshot_20210403_1234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5" y="3429000"/>
            <a:ext cx="3171825" cy="16097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4323" y="281391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父组件中绑定值</a:t>
            </a:r>
          </a:p>
        </p:txBody>
      </p:sp>
      <p:pic>
        <p:nvPicPr>
          <p:cNvPr id="14" name="图片 13" descr="Screenshot_20210403_1235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452" y="5316751"/>
            <a:ext cx="3495675" cy="12192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392724" y="4583457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子组件接收</a:t>
            </a:r>
          </a:p>
        </p:txBody>
      </p:sp>
      <p:pic>
        <p:nvPicPr>
          <p:cNvPr id="2" name="图片 1" descr="Screenshot_20210403_1327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452" y="2716374"/>
            <a:ext cx="3705225" cy="22383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708185D-F342-4489-B191-C6882AE53D36}"/>
              </a:ext>
            </a:extLst>
          </p:cNvPr>
          <p:cNvSpPr txBox="1"/>
          <p:nvPr/>
        </p:nvSpPr>
        <p:spPr>
          <a:xfrm>
            <a:off x="5673092" y="379600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对象形式的数据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BFD1B8-BBEA-4E0C-9D5D-430086D6906C}"/>
              </a:ext>
            </a:extLst>
          </p:cNvPr>
          <p:cNvSpPr txBox="1"/>
          <p:nvPr/>
        </p:nvSpPr>
        <p:spPr>
          <a:xfrm>
            <a:off x="5662724" y="5742201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数组形式的数据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03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组件的使用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---Prop</a:t>
            </a:r>
          </a:p>
        </p:txBody>
      </p:sp>
      <p:grpSp>
        <p:nvGrpSpPr>
          <p:cNvPr id="43" name="组合 42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4" name="等腰三角形 43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402080" y="1431290"/>
            <a:ext cx="61537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前面的是静态的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prop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值，也可以使用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v-bind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传入动态的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prop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02080" y="2335530"/>
            <a:ext cx="65798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&lt;!-- 动态赋予一个变量的值 --&gt;</a:t>
            </a:r>
          </a:p>
          <a:p>
            <a:r>
              <a:rPr lang="zh-CN" altLang="en-US" dirty="0"/>
              <a:t>&lt;blog-post v-bind:title="post.title"&gt;&lt;/blog-post&gt;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32865" y="3604260"/>
            <a:ext cx="74504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需要注意的是：</a:t>
            </a:r>
          </a:p>
          <a:p>
            <a:r>
              <a:rPr lang="zh-CN" altLang="en-US"/>
              <a:t>所有的 prop 都使得其父子 prop 之间形成了一个单向下行绑定：父级 prop 的更新会向下流动到子组件中，但是反过来则不行。这样会防止从子组件意外变更父级组件的状态，从而导致你的应用的数据流向难以理解。</a:t>
            </a:r>
          </a:p>
          <a:p>
            <a:endParaRPr lang="zh-CN" altLang="en-US"/>
          </a:p>
          <a:p>
            <a:r>
              <a:rPr lang="zh-CN" altLang="en-US"/>
              <a:t>额外的，每次父级组件发生变更时，子组件中所有的 prop 都将会刷新为最新的值。这意味着你不应该在一个子组件内部改变 prop。如果你这样做了，Vue 会在浏览器的控制台中发出警告。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生命周期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116330" y="2312035"/>
            <a:ext cx="6415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比如 created 钩子可以用来在一个实例被创建之后执行代码：</a:t>
            </a:r>
          </a:p>
        </p:txBody>
      </p:sp>
      <p:pic>
        <p:nvPicPr>
          <p:cNvPr id="5" name="图片 4" descr="Screenshot_20210403_1448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0" y="2770505"/>
            <a:ext cx="4124325" cy="26860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60465" y="2945765"/>
            <a:ext cx="4982210" cy="2585323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不要在选项 property 或回调上使用箭头函数</a:t>
            </a:r>
            <a:r>
              <a:rPr lang="zh-CN" altLang="en-US" dirty="0"/>
              <a:t>，比如 created: () =&gt; console.log(this.a) 或 vm.$watch('a', newValue =&gt; this.myMethod())。</a:t>
            </a:r>
          </a:p>
          <a:p>
            <a:r>
              <a:rPr lang="zh-CN" altLang="en-US" dirty="0"/>
              <a:t>因为箭头函数并没有 this，this 会作为变量一直向上级词法作用域查找，直至找到为止，经常导致 Uncaught TypeError: Cannot read property of undefined 或 Uncaught TypeError: this.myMethod is not a function 之类的错误。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74700" y="1124585"/>
            <a:ext cx="57638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Vue实例从创建到销毁的过程，就是生命周期。详细来说也就是从开始创建、初始化数据、编译模板、挂载Dom、渲染→更新→渲染、卸载等一系列过程。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生命周期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61110" y="1217930"/>
            <a:ext cx="97237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也有一些其它的钩子，在实例生命周期的不同阶段被调用，如 mounted、updated 和 destroyed。生命周期钩子的 this 上下文指向调用它的 Vue 实例。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61110" y="2235835"/>
            <a:ext cx="94754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1.beforeCreate：</a:t>
            </a:r>
          </a:p>
          <a:p>
            <a:r>
              <a:rPr lang="zh-CN" altLang="en-US"/>
              <a:t>在实例初始化之后，数据观测(data observer) 和 event/watcher 事件配置之前被调用。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61110" y="3244850"/>
            <a:ext cx="90328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2.created：</a:t>
            </a:r>
            <a:endParaRPr lang="zh-CN" altLang="en-US"/>
          </a:p>
          <a:p>
            <a:r>
              <a:rPr lang="zh-CN" altLang="en-US"/>
              <a:t>实例已经创建完成之后被调用。在这一步，实例已完成以下的配置：数据观测(data observer)，属性和方法的运算， watch/event 事件回调。然而，挂载阶段还没开始，$el 属性目前不可见。</a:t>
            </a:r>
          </a:p>
          <a:p>
            <a:r>
              <a:rPr lang="zh-CN" altLang="en-US" b="1"/>
              <a:t>主要应用：</a:t>
            </a:r>
            <a:r>
              <a:rPr lang="zh-CN" altLang="en-US"/>
              <a:t>调用数据，调用方法，调用异步函数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61110" y="5226685"/>
            <a:ext cx="90328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3.beforeMount：</a:t>
            </a:r>
          </a:p>
          <a:p>
            <a:r>
              <a:rPr lang="zh-CN" altLang="en-US" dirty="0"/>
              <a:t>在挂载开始之前被调用：相关的 render 函数（模板）首次被调用。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生命周期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155065" y="1776095"/>
            <a:ext cx="94754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4.mounted：</a:t>
            </a:r>
          </a:p>
          <a:p>
            <a:r>
              <a:rPr lang="zh-CN" altLang="en-US"/>
              <a:t>el 被新创建的 vm.$el 替换，并挂载到实例上去之后调用该钩子。</a:t>
            </a:r>
          </a:p>
          <a:p>
            <a:r>
              <a:rPr lang="zh-CN" altLang="en-US"/>
              <a:t>有初始值的DOM渲染，例如我们的初始数据list,渲染出来的li，只有这里才能获取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55065" y="2994660"/>
            <a:ext cx="90328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5.beforeUpdate：</a:t>
            </a:r>
          </a:p>
          <a:p>
            <a:r>
              <a:rPr lang="zh-CN" altLang="en-US" dirty="0"/>
              <a:t>数据更新时调用，发生在虚拟 DOM 重新渲染和打补丁之前。 你可以在这个钩子中进一步地更改状态，这不会触发附加的重渲染过程。</a:t>
            </a:r>
          </a:p>
          <a:p>
            <a:r>
              <a:rPr lang="zh-CN" altLang="en-US" dirty="0"/>
              <a:t>当我们更改Vue的任何数据，都会触发该函数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55065" y="4766945"/>
            <a:ext cx="49987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6.updated：</a:t>
            </a:r>
            <a:endParaRPr lang="zh-CN" altLang="en-US"/>
          </a:p>
          <a:p>
            <a:r>
              <a:rPr lang="zh-CN" altLang="en-US"/>
              <a:t>数据更新就会触发（vue所有的数据只有有更新就会触发）,如果想数据一遍就做统一的处理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38595" y="4351020"/>
            <a:ext cx="3937000" cy="175323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当这个钩子被调用时，组件 DOM 已经更新，所以你现在可以执行依赖于 DOM 的操作。然而在大多数情况下，你应该避免在此期间更改状态，因为这可能会导致更新无限循环。</a:t>
            </a:r>
          </a:p>
          <a:p>
            <a:r>
              <a:rPr lang="zh-CN" altLang="en-US" dirty="0"/>
              <a:t>该钩子在服务器端渲染期间不被调用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生命周期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155065" y="1776095"/>
            <a:ext cx="94754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7.beforeDestroy：</a:t>
            </a:r>
          </a:p>
          <a:p>
            <a:r>
              <a:rPr lang="zh-CN" altLang="en-US"/>
              <a:t>实例销毁之前调用。在这一步，实例仍然完全可用。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55065" y="2994660"/>
            <a:ext cx="90328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8.destroyed：</a:t>
            </a:r>
          </a:p>
          <a:p>
            <a:r>
              <a:rPr lang="zh-CN" altLang="en-US"/>
              <a:t>Vue 实例销毁后调用。调用后，Vue 实例指示的所有东西都会解绑定，所有的事件监听器会被移除，所有的子实例也会被销毁。 该钩子在服务器端渲染期间不被调用。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05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中的混入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55065" y="1355090"/>
            <a:ext cx="65570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混入 (mixins) 是一种分发 Vue 组件中可复用功能的非常灵活的方式。混入对象可以包含任意组件选项（选项合并）。</a:t>
            </a:r>
            <a:r>
              <a:rPr lang="zh-CN" altLang="en-US">
                <a:sym typeface="+mn-ea"/>
              </a:rPr>
              <a:t>当组件和混入对象含有同名选项时，这些选项将以恰当的方式进行“合并”。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比如，数据对象在内部会进行递归合并，并在发生冲突时以组件数据优先。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61110" y="4058920"/>
            <a:ext cx="77241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1</a:t>
            </a:r>
            <a:r>
              <a:rPr lang="zh-CN" altLang="en-US" b="1"/>
              <a:t>、钩子函数合并：</a:t>
            </a:r>
            <a:r>
              <a:rPr lang="zh-CN" altLang="en-US"/>
              <a:t>同名钩子函数将混合为一个数组，因此都将被调用。另外，混入对象的钩子函数将在组件自身钩子函数之前调用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61110" y="5070475"/>
            <a:ext cx="7724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2</a:t>
            </a:r>
            <a:r>
              <a:rPr lang="zh-CN" altLang="en-US" b="1"/>
              <a:t>、数据对象合并：</a:t>
            </a:r>
            <a:r>
              <a:rPr lang="zh-CN" altLang="en-US"/>
              <a:t>数据对象在内部会进行浅合并 (一层属性深度)，在和组件的数据发生冲突时以组件数据优先（组件的data中变量会覆盖混入对象的data中变量）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260834" y="27028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1109" y="254328"/>
            <a:ext cx="68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</a:rPr>
              <a:t>05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402304" y="241629"/>
            <a:ext cx="51364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Vue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中的混入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61110" y="2041525"/>
            <a:ext cx="7724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、普通方法合并：</a:t>
            </a:r>
            <a:r>
              <a:rPr lang="zh-CN" altLang="en-US" dirty="0"/>
              <a:t> 当混合值为对象的选项时，例如 methods、components、directive，将被混合为同一个对象，两个对象键名冲突时，取组件对象的键值对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61110" y="3371215"/>
            <a:ext cx="77241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、全局混入：</a:t>
            </a:r>
            <a:r>
              <a:rPr lang="zh-CN" altLang="en-US" dirty="0">
                <a:sym typeface="+mn-ea"/>
              </a:rPr>
              <a:t>一旦使用全局混入，它将影响每一个之后创建的 Vue 实例。使用恰当时，这可以用来为自定义选项注入处理逻辑。</a:t>
            </a:r>
            <a:endParaRPr lang="zh-CN" alt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1986639" y="269010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5955" y="257810"/>
            <a:ext cx="1330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lt"/>
                <a:ea typeface="+mj-ea"/>
              </a:rPr>
              <a:t>总结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40EF31B-AC39-4138-97BB-593D8ADEE734}"/>
              </a:ext>
            </a:extLst>
          </p:cNvPr>
          <p:cNvSpPr txBox="1"/>
          <p:nvPr/>
        </p:nvSpPr>
        <p:spPr>
          <a:xfrm>
            <a:off x="1321117" y="22385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、一些常用的</a:t>
            </a:r>
            <a:r>
              <a:rPr lang="en-US" altLang="zh-CN" dirty="0"/>
              <a:t>Vue</a:t>
            </a:r>
            <a:r>
              <a:rPr lang="zh-CN" altLang="en-US" dirty="0"/>
              <a:t>基本语法与指令；条件、列表渲染；事件处理；数据绑定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50E084-4711-44ED-A66E-1D3F74304EA5}"/>
              </a:ext>
            </a:extLst>
          </p:cNvPr>
          <p:cNvSpPr txBox="1"/>
          <p:nvPr/>
        </p:nvSpPr>
        <p:spPr>
          <a:xfrm>
            <a:off x="1295400" y="1633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、什么是</a:t>
            </a:r>
            <a:r>
              <a:rPr lang="en-US" altLang="zh-CN" dirty="0"/>
              <a:t>Vue</a:t>
            </a:r>
            <a:r>
              <a:rPr lang="zh-CN" altLang="en-US" dirty="0"/>
              <a:t>以及如何使用</a:t>
            </a:r>
            <a:r>
              <a:rPr lang="en-US" altLang="zh-CN" dirty="0"/>
              <a:t>Vue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7778C3-C51F-48EC-8034-C2709D89584F}"/>
              </a:ext>
            </a:extLst>
          </p:cNvPr>
          <p:cNvSpPr txBox="1"/>
          <p:nvPr/>
        </p:nvSpPr>
        <p:spPr>
          <a:xfrm>
            <a:off x="1321117" y="31207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、组件的注册与引入；组件之间如何传递信息（父子组件之间）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4D841E-48EF-43E1-8062-11559672EB47}"/>
              </a:ext>
            </a:extLst>
          </p:cNvPr>
          <p:cNvSpPr txBox="1"/>
          <p:nvPr/>
        </p:nvSpPr>
        <p:spPr>
          <a:xfrm>
            <a:off x="1295400" y="4002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Vue</a:t>
            </a:r>
            <a:r>
              <a:rPr lang="zh-CN" altLang="en-US" dirty="0"/>
              <a:t>的生命周期和各阶段的钩子函数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B46A75-5A09-405A-815F-C9484B814CAE}"/>
              </a:ext>
            </a:extLst>
          </p:cNvPr>
          <p:cNvSpPr txBox="1"/>
          <p:nvPr/>
        </p:nvSpPr>
        <p:spPr>
          <a:xfrm>
            <a:off x="1321117" y="46089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Vue</a:t>
            </a:r>
            <a:r>
              <a:rPr lang="zh-CN" altLang="en-US" dirty="0"/>
              <a:t>的混入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705600"/>
            <a:ext cx="12192000" cy="180000"/>
          </a:xfrm>
          <a:prstGeom prst="rect">
            <a:avLst/>
          </a:prstGeom>
          <a:solidFill>
            <a:srgbClr val="C7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2319271" y="269239"/>
            <a:ext cx="72000" cy="468000"/>
          </a:xfrm>
          <a:prstGeom prst="rect">
            <a:avLst/>
          </a:prstGeom>
          <a:solidFill>
            <a:srgbClr val="C7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5955" y="257810"/>
            <a:ext cx="166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lt"/>
                <a:ea typeface="+mj-ea"/>
              </a:rPr>
              <a:t>参考资料</a:t>
            </a:r>
          </a:p>
        </p:txBody>
      </p:sp>
      <p:grpSp>
        <p:nvGrpSpPr>
          <p:cNvPr id="41" name="组合 40"/>
          <p:cNvGrpSpPr/>
          <p:nvPr/>
        </p:nvGrpSpPr>
        <p:grpSpPr>
          <a:xfrm rot="17100000">
            <a:off x="175953" y="261388"/>
            <a:ext cx="481872" cy="469661"/>
            <a:chOff x="1032060" y="5022216"/>
            <a:chExt cx="753746" cy="734645"/>
          </a:xfrm>
        </p:grpSpPr>
        <p:sp>
          <p:nvSpPr>
            <p:cNvPr id="42" name="等腰三角形 41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B7DAD11B-D459-4995-8466-0AF435DC2FD3}"/>
              </a:ext>
            </a:extLst>
          </p:cNvPr>
          <p:cNvSpPr txBox="1"/>
          <p:nvPr/>
        </p:nvSpPr>
        <p:spPr>
          <a:xfrm>
            <a:off x="1722120" y="2277110"/>
            <a:ext cx="401510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Vue</a:t>
            </a:r>
            <a:r>
              <a:rPr lang="zh-CN" altLang="en-US" dirty="0"/>
              <a:t>官方网站</a:t>
            </a:r>
            <a:r>
              <a:rPr lang="en-US" altLang="zh-CN" dirty="0"/>
              <a:t>:</a:t>
            </a:r>
            <a:r>
              <a:rPr lang="zh-CN" altLang="en-US" dirty="0"/>
              <a:t>https://cn.vuejs.org/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8DD964-82A4-48BB-AE53-85C65BDFDA15}"/>
              </a:ext>
            </a:extLst>
          </p:cNvPr>
          <p:cNvSpPr txBox="1"/>
          <p:nvPr/>
        </p:nvSpPr>
        <p:spPr>
          <a:xfrm>
            <a:off x="1722120" y="3126895"/>
            <a:ext cx="6492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Vue</a:t>
            </a:r>
            <a:r>
              <a:rPr lang="zh-CN" altLang="en-US" dirty="0"/>
              <a:t>生命周期的理解：</a:t>
            </a:r>
            <a:endParaRPr lang="en-US" altLang="zh-CN" dirty="0"/>
          </a:p>
          <a:p>
            <a:r>
              <a:rPr lang="zh-CN" altLang="en-US" dirty="0"/>
              <a:t>https://blog.csdn.net/haochangdi123/article/details/78358895 </a:t>
            </a:r>
            <a:r>
              <a:rPr lang="en-US" altLang="zh-CN" dirty="0"/>
              <a:t>https://blog.csdn.net/DQ1005/article/details/89345248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A08925-B170-4EEC-A0C1-4DC93E37AE79}"/>
              </a:ext>
            </a:extLst>
          </p:cNvPr>
          <p:cNvSpPr txBox="1"/>
          <p:nvPr/>
        </p:nvSpPr>
        <p:spPr>
          <a:xfrm>
            <a:off x="1722120" y="4517022"/>
            <a:ext cx="6492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Vue</a:t>
            </a:r>
            <a:r>
              <a:rPr lang="zh-CN" altLang="en-US" dirty="0"/>
              <a:t>混入：</a:t>
            </a:r>
            <a:endParaRPr lang="en-US" altLang="zh-CN" dirty="0"/>
          </a:p>
          <a:p>
            <a:r>
              <a:rPr lang="zh-CN" altLang="en-US" dirty="0"/>
              <a:t>https://blog.csdn.net/fu983531588/article/details/90680873</a:t>
            </a:r>
          </a:p>
        </p:txBody>
      </p:sp>
    </p:spTree>
    <p:extLst>
      <p:ext uri="{BB962C8B-B14F-4D97-AF65-F5344CB8AC3E}">
        <p14:creationId xmlns:p14="http://schemas.microsoft.com/office/powerpoint/2010/main" val="38796532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rot="3589066">
            <a:off x="3990028" y="656542"/>
            <a:ext cx="5374594" cy="4630173"/>
            <a:chOff x="3404893" y="666070"/>
            <a:chExt cx="5374594" cy="4630173"/>
          </a:xfrm>
        </p:grpSpPr>
        <p:sp>
          <p:nvSpPr>
            <p:cNvPr id="5" name="等腰三角形 4"/>
            <p:cNvSpPr/>
            <p:nvPr/>
          </p:nvSpPr>
          <p:spPr>
            <a:xfrm>
              <a:off x="3466513" y="704830"/>
              <a:ext cx="5258974" cy="4533598"/>
            </a:xfrm>
            <a:prstGeom prst="triangle">
              <a:avLst/>
            </a:prstGeom>
            <a:noFill/>
            <a:ln w="12700"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049620" y="666070"/>
              <a:ext cx="108000" cy="108000"/>
            </a:xfrm>
            <a:prstGeom prst="ellipse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404893" y="5188243"/>
              <a:ext cx="108000" cy="108000"/>
            </a:xfrm>
            <a:prstGeom prst="ellipse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8671487" y="5188243"/>
              <a:ext cx="108000" cy="108000"/>
            </a:xfrm>
            <a:prstGeom prst="ellipse">
              <a:avLst/>
            </a:prstGeom>
            <a:solidFill>
              <a:srgbClr val="C7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34971" y="1385353"/>
            <a:ext cx="4122058" cy="4122058"/>
            <a:chOff x="4034971" y="1373288"/>
            <a:chExt cx="4122058" cy="4122058"/>
          </a:xfrm>
        </p:grpSpPr>
        <p:sp>
          <p:nvSpPr>
            <p:cNvPr id="10" name="椭圆 9"/>
            <p:cNvSpPr/>
            <p:nvPr/>
          </p:nvSpPr>
          <p:spPr>
            <a:xfrm>
              <a:off x="4034971" y="1373288"/>
              <a:ext cx="4122058" cy="4122058"/>
            </a:xfrm>
            <a:prstGeom prst="ellipse">
              <a:avLst/>
            </a:prstGeom>
            <a:solidFill>
              <a:schemeClr val="tx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201982" y="2405932"/>
              <a:ext cx="201748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VUE</a:t>
              </a:r>
              <a:endParaRPr lang="zh-CN" altLang="en-US" sz="8000" dirty="0">
                <a:solidFill>
                  <a:schemeClr val="bg1"/>
                </a:solidFill>
                <a:latin typeface="Agency FB" panose="020B0503020202020204" pitchFamily="34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4892994" y="3790381"/>
              <a:ext cx="238621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4417791" y="3729370"/>
              <a:ext cx="33366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感谢聆听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32060" y="5022216"/>
            <a:ext cx="753746" cy="734645"/>
            <a:chOff x="1032060" y="5022216"/>
            <a:chExt cx="753746" cy="734645"/>
          </a:xfrm>
        </p:grpSpPr>
        <p:sp>
          <p:nvSpPr>
            <p:cNvPr id="15" name="等腰三角形 14"/>
            <p:cNvSpPr/>
            <p:nvPr/>
          </p:nvSpPr>
          <p:spPr>
            <a:xfrm rot="20627212" flipH="1" flipV="1">
              <a:off x="1032060" y="5107080"/>
              <a:ext cx="753746" cy="649781"/>
            </a:xfrm>
            <a:prstGeom prst="triangle">
              <a:avLst/>
            </a:prstGeom>
            <a:noFill/>
            <a:ln w="12700">
              <a:solidFill>
                <a:srgbClr val="C7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6289781" flipH="1" flipV="1">
              <a:off x="1003006" y="5062727"/>
              <a:ext cx="587410" cy="506388"/>
            </a:xfrm>
            <a:prstGeom prst="triangle">
              <a:avLst/>
            </a:prstGeom>
            <a:solidFill>
              <a:srgbClr val="C7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等腰三角形 16"/>
          <p:cNvSpPr/>
          <p:nvPr/>
        </p:nvSpPr>
        <p:spPr>
          <a:xfrm rot="16200000" flipH="1" flipV="1">
            <a:off x="10561436" y="2089522"/>
            <a:ext cx="466193" cy="401891"/>
          </a:xfrm>
          <a:prstGeom prst="triangle">
            <a:avLst/>
          </a:prstGeom>
          <a:solidFill>
            <a:srgbClr val="C75050"/>
          </a:solidFill>
          <a:ln w="12700">
            <a:solidFill>
              <a:srgbClr val="C7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5400000" flipV="1">
            <a:off x="10835395" y="2837059"/>
            <a:ext cx="312202" cy="269140"/>
          </a:xfrm>
          <a:prstGeom prst="triangle">
            <a:avLst/>
          </a:prstGeom>
          <a:solidFill>
            <a:srgbClr val="40404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20034423" flipH="1" flipV="1">
            <a:off x="10265617" y="3528425"/>
            <a:ext cx="466193" cy="401891"/>
          </a:xfrm>
          <a:prstGeom prst="triangle">
            <a:avLst/>
          </a:prstGeom>
          <a:noFill/>
          <a:ln w="12700">
            <a:solidFill>
              <a:srgbClr val="C7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3050067" flipH="1" flipV="1">
            <a:off x="1101977" y="3288413"/>
            <a:ext cx="466193" cy="401891"/>
          </a:xfrm>
          <a:prstGeom prst="triangle">
            <a:avLst/>
          </a:prstGeom>
          <a:solidFill>
            <a:srgbClr val="40404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TuWHP#"/>
  <p:tag name="MH_LAYOUT" val="Text"/>
  <p:tag name="MH" val="20160315165528"/>
  <p:tag name="MH_LIBRARY" val="GRAPHI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gency FB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3097</Words>
  <Application>Microsoft Office PowerPoint</Application>
  <PresentationFormat>宽屏</PresentationFormat>
  <Paragraphs>290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黑体</vt:lpstr>
      <vt:lpstr>微软雅黑</vt:lpstr>
      <vt:lpstr>Agency FB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wangxiao</cp:lastModifiedBy>
  <cp:revision>569</cp:revision>
  <dcterms:created xsi:type="dcterms:W3CDTF">2021-04-03T08:39:19Z</dcterms:created>
  <dcterms:modified xsi:type="dcterms:W3CDTF">2021-04-08T11:25:07Z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2052-11.1.0.10161</vt:lpwstr>
  </property>
</Properties>
</file>